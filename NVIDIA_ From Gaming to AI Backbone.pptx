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2073771"/>
            <a:ext cx="85725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76B900"/>
                </a:solidFill>
                <a:latin typeface="DM Sans Medium"/>
              </a:rPr>
              <a:t>HOW DID ONE COMPANY BECOME THE BACKBONE OF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5437" y="2582316"/>
            <a:ext cx="9001125" cy="2011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76B900"/>
                </a:solidFill>
                <a:latin typeface="Urbanist ExtraBold"/>
              </a:rPr>
              <a:t>NVIDIA:</a:t>
            </a:r>
            <a:r>
              <a:rPr sz="4800" b="0" i="0" u="none">
                <a:solidFill>
                  <a:srgbClr val="FFFFFF"/>
                </a:solidFill>
                <a:latin typeface="Urbanist ExtraBold"/>
              </a:rPr>
              <a:t> FROM GAMING STARTUP TO THE ENGINE OF THE AI REVOLUTION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28775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16287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A3A3A3"/>
                </a:solidFill>
                <a:latin typeface="DM Sans"/>
              </a:rPr>
              <a:t>Founded in 1993</a:t>
            </a:r>
            <a:r>
              <a:rPr sz="1500" b="0" i="0" u="none">
                <a:solidFill>
                  <a:srgbClr val="A3A3A3"/>
                </a:solidFill>
                <a:latin typeface="DM Sans"/>
              </a:rPr>
              <a:t> by Jensen Huang, Chris Malachowsky, and Curtis Priem.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4288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A3A3A3"/>
                </a:solidFill>
                <a:latin typeface="DM Sans"/>
              </a:rPr>
              <a:t>The Mission:</a:t>
            </a:r>
            <a:r>
              <a:rPr sz="1500" b="0" i="0" u="none">
                <a:solidFill>
                  <a:srgbClr val="A3A3A3"/>
                </a:solidFill>
                <a:latin typeface="DM Sans"/>
              </a:rPr>
              <a:t> Build better computer graphics chips. At the time, 3D graphics and gaming were considered a risky, niche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5337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A3A3A3"/>
                </a:solidFill>
                <a:latin typeface="DM Sans"/>
              </a:rPr>
              <a:t>The Vision:</a:t>
            </a:r>
            <a:r>
              <a:rPr sz="1500" b="0" i="0" u="none">
                <a:solidFill>
                  <a:srgbClr val="A3A3A3"/>
                </a:solidFill>
                <a:latin typeface="DM Sans"/>
              </a:rPr>
              <a:t> They bet on the future before the AI boom existed, believing visual computing would become a major form of computing.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6386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This early vision quietly laid the groundwork for something far larger than gaming.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638300"/>
            <a:ext cx="5210175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THE GAMING COMPANY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647825"/>
            <a:ext cx="8572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447925"/>
            <a:ext cx="8572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52825"/>
            <a:ext cx="8572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657725"/>
            <a:ext cx="857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219575"/>
            <a:ext cx="11029950" cy="381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9133" y="4619625"/>
            <a:ext cx="346043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76B900"/>
                </a:solidFill>
                <a:latin typeface="Urbanist"/>
              </a:rPr>
              <a:t>1995: NV1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5076825"/>
            <a:ext cx="32956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A3A3A3"/>
                </a:solidFill>
                <a:latin typeface="DM Sans"/>
              </a:rPr>
              <a:t>Launched using an unconventional curved-surface rendering approach. Misaligned with Microsoft's emerging DirectX triangle standard.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5783" y="2526208"/>
            <a:ext cx="346043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76B900"/>
                </a:solidFill>
                <a:latin typeface="Urbanist"/>
              </a:rPr>
              <a:t>1997: RIVA 128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8175" y="2983408"/>
            <a:ext cx="32956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A3A3A3"/>
                </a:solidFill>
                <a:latin typeface="DM Sans"/>
              </a:rPr>
              <a:t>A dramatic comeback. NVIDIA pivoted to triangle-based rendering, shipping a fast, compatible GPU that won back developers.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2433" y="4619625"/>
            <a:ext cx="346043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76B900"/>
                </a:solidFill>
                <a:latin typeface="Urbanist"/>
              </a:rPr>
              <a:t>1999: GeForce 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4825" y="5076825"/>
            <a:ext cx="32956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A3A3A3"/>
                </a:solidFill>
                <a:latin typeface="DM Sans"/>
              </a:rPr>
              <a:t>Marketed as the world's first GPU. Shifted intensive geometry calculations from the CPU, establishing massively parallel 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THE EARLY BATTLES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05050" y="4124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381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81700" y="4124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381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58350" y="4124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381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28775"/>
            <a:ext cx="5324475" cy="407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28775"/>
            <a:ext cx="5324475" cy="407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733675"/>
            <a:ext cx="477059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CPU — The Expert Specialist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20040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A CPU has a few powerful cores, each optimized for complex, varied, and sequential tasks. Think of it as a small team of highly skilled experts.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2576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A3A3A3"/>
                </a:solidFill>
                <a:latin typeface="DM Sans"/>
              </a:rPr>
              <a:t>Strengths:</a:t>
            </a:r>
            <a:r>
              <a:rPr sz="1500" b="0" i="0" u="none">
                <a:solidFill>
                  <a:srgbClr val="A3A3A3"/>
                </a:solidFill>
                <a:latin typeface="DM Sans"/>
              </a:rPr>
              <a:t> Running operating systems, applications, and logic-heavy workloads that require quick decisions and varied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733675"/>
            <a:ext cx="477059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GPU — The Parallel Powerhouse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20040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A GPU has thousands of smaller cores designed to perform the same calculation simultaneously across massive datasets.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42576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A3A3A3"/>
                </a:solidFill>
                <a:latin typeface="DM Sans"/>
              </a:rPr>
              <a:t>Strengths:</a:t>
            </a:r>
            <a:r>
              <a:rPr sz="1500" b="0" i="0" u="none">
                <a:solidFill>
                  <a:srgbClr val="A3A3A3"/>
                </a:solidFill>
                <a:latin typeface="DM Sans"/>
              </a:rPr>
              <a:t> Ideal for repetitive, large-scale math. Think of it as a huge workforce all doing one simple task at once in parallel.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095500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095500"/>
            <a:ext cx="38100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CPU VS GPU: WHY GPUS CHANGE THE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190648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THE TURNING POINT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152204"/>
            <a:ext cx="45910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76B900"/>
                </a:solidFill>
                <a:latin typeface="DM Sans"/>
              </a:rPr>
              <a:t>What if GPUs could do more than graphics?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892623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A3A3A3"/>
                </a:solidFill>
                <a:latin typeface="DM Sans"/>
              </a:rPr>
              <a:t>GPUs were designed for graphics but contained enormous parallel math capacity. Researchers began using GPUs for non-graphics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949898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AI researchers realized that training neural networks was a natural fit for massively parallel GPU computation.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702373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NVIDIA had accidentally built a machine for the future of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2582" y="2462212"/>
            <a:ext cx="992683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450" b="1" i="0" u="none">
                <a:solidFill>
                  <a:srgbClr val="FFFFFF"/>
                </a:solidFill>
                <a:latin typeface="Urbanist"/>
              </a:rPr>
              <a:t>"The AI boom did not create NVIDIA's strategy — it </a:t>
            </a:r>
            <a:r>
              <a:rPr sz="3450" b="1" i="0" u="none">
                <a:solidFill>
                  <a:srgbClr val="76B900"/>
                </a:solidFill>
                <a:latin typeface="Urbanist"/>
              </a:rPr>
              <a:t>revealed</a:t>
            </a:r>
            <a:r>
              <a:rPr sz="3450" b="1" i="0" u="none">
                <a:solidFill>
                  <a:srgbClr val="FFFFFF"/>
                </a:solidFill>
                <a:latin typeface="Urbanist"/>
              </a:rPr>
              <a:t> what NVIDIA had already built."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582" y="3887092"/>
            <a:ext cx="992683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76B900"/>
                </a:solidFill>
                <a:latin typeface="DM Sans Medium"/>
              </a:rPr>
              <a:t>Gaming → GPU → CUDA → Deep Learning → Modern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81225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133600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Historically, GPUs were locked behind graphics languages. Developers wanting processing power for general math had to disguise calculations as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190875"/>
            <a:ext cx="52292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A3A3A3"/>
                </a:solidFill>
                <a:latin typeface="DM Sans"/>
              </a:rPr>
              <a:t>Enter CUDA (2006): The Game Changer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638550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A software platform and programming interface created by NVIDIA.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438650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Allowed developers to write standard code and run it directly on the GPU.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5238750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Completely bypassed the need to know anything about graphics rendering.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190750"/>
            <a:ext cx="5210175" cy="3790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581025"/>
            <a:ext cx="1158144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CUDA — THE TECHNOLOGY THAT CHANGED EVERYTHING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1733550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57600"/>
            <a:ext cx="8572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457700"/>
            <a:ext cx="8572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257800"/>
            <a:ext cx="857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9725"/>
            <a:ext cx="3486150" cy="4686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609725"/>
            <a:ext cx="3486150" cy="468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609725"/>
            <a:ext cx="3486150" cy="4686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1550" y="2714625"/>
            <a:ext cx="284035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The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181350"/>
            <a:ext cx="2705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CPUs are incredibly capable and can solve highly complex, multi-step logical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238625"/>
            <a:ext cx="2705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However, they work sequentially—meaning they tackle one problem at a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0" y="2714625"/>
            <a:ext cx="284035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The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3450" y="3181350"/>
            <a:ext cx="27051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They cannot solve complex logical puzzles on their own, but they are exceptionally fast at basic arithmetic.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3450" y="4543425"/>
            <a:ext cx="27051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Because there are thousands of cores, they execute massive amounts of simple calculations simultaneously.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5350" y="2714625"/>
            <a:ext cx="284035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CUDA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5350" y="3181350"/>
            <a:ext cx="2705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The compiler architecture and API that bridges the CPU (Host) and GPU (Device).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5350" y="4238625"/>
            <a:ext cx="27051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It automatically splits standard C++ code and translates parallel tasks into GPU-readable instructions.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2076450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2076450"/>
            <a:ext cx="333375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350" y="2076450"/>
            <a:ext cx="33337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619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THE MENTAL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20967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7" y="1628775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1714500"/>
            <a:ext cx="549068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A Billion-Dollar Sinkhole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181225"/>
            <a:ext cx="52292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CUDA was initially viewed as a massive failure. Adding compute logic to silicon made every gaming GPU more expensive to manufacture, and gamers didn’t care about scientific computing.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543300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NVIDIA’s profits tanked, and Wall Street punished the stock. Investors demanded NVIDIA drop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4295775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76B900"/>
                </a:solidFill>
                <a:latin typeface="DM Sans"/>
              </a:rPr>
              <a:t>Jensen Huang refused.</a:t>
            </a:r>
            <a:r>
              <a:rPr sz="1500" b="0" i="0" u="none">
                <a:solidFill>
                  <a:srgbClr val="A3A3A3"/>
                </a:solidFill>
                <a:latin typeface="DM Sans"/>
              </a:rPr>
              <a:t> He forced CUDA into every single chip they made, secretly laying the exact infrastructure that AI researchers would desperately need a decade later.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737" y="1666875"/>
            <a:ext cx="3733800" cy="3733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WALL STREET HATED CUDA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190648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THE 2012 "BIG BANG" OF AI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314575"/>
            <a:ext cx="49434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Researchers led by Geoffrey Hinton entered the ImageNet visual recognition competition.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6705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They introduced </a:t>
            </a:r>
            <a:r>
              <a:rPr sz="1500" b="1" i="0" u="none">
                <a:solidFill>
                  <a:srgbClr val="A3A3A3"/>
                </a:solidFill>
                <a:latin typeface="DM Sans"/>
              </a:rPr>
              <a:t>"AlexNet"</a:t>
            </a:r>
            <a:r>
              <a:rPr sz="1500" b="0" i="0" u="none">
                <a:solidFill>
                  <a:srgbClr val="A3A3A3"/>
                </a:solidFill>
                <a:latin typeface="DM Sans"/>
              </a:rPr>
              <a:t>—a deep convolutional neural network that crushed the competition, proving deep learning was the 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124325"/>
            <a:ext cx="3952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76B900"/>
                </a:solidFill>
                <a:latin typeface="DM Sans"/>
              </a:rPr>
              <a:t>6 days, 2 gaming GPUs, and a changed world.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702629"/>
            <a:ext cx="49434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A3A3A3"/>
                </a:solidFill>
                <a:latin typeface="DM Sans"/>
              </a:rPr>
              <a:t>The team trained </a:t>
            </a:r>
            <a:r>
              <a:rPr sz="1500" b="0" i="0" u="none" dirty="0" err="1">
                <a:solidFill>
                  <a:srgbClr val="A3A3A3"/>
                </a:solidFill>
                <a:latin typeface="DM Sans"/>
              </a:rPr>
              <a:t>AlexNet</a:t>
            </a:r>
            <a:r>
              <a:rPr sz="1500" b="0" i="0" u="none" dirty="0">
                <a:solidFill>
                  <a:srgbClr val="A3A3A3"/>
                </a:solidFill>
                <a:latin typeface="DM Sans"/>
              </a:rPr>
              <a:t> simultaneously on two off-the-shelf NVIDIA gaming GPUs (GTX 580s) for nearly a week. This event officially sparked the modern AI revolution.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3190875"/>
            <a:ext cx="549068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76B900"/>
                </a:solidFill>
                <a:latin typeface="Urbanist"/>
              </a:rPr>
              <a:t>Massive, Repetitive Matrix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657600"/>
            <a:ext cx="5229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When an AI model runs a computation, it isn't solving complex sequential logic; it is crunching massive grids of numbers through simple arithmetic over and over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662237"/>
            <a:ext cx="549068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76B900"/>
                </a:solidFill>
                <a:latin typeface="Urbanist"/>
              </a:rPr>
              <a:t>Simultaneous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128962"/>
            <a:ext cx="52292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Instead of processing this data sequentially, the GPU takes the massive grid, breaks it into thousands of tiny, independent tasks, and feeds them to its thousands of 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4491037"/>
            <a:ext cx="52292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It computes the entire grid simultaneously rather than piece-by-piece.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COMPUTATION ON A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32582" y="2163365"/>
            <a:ext cx="9926835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450" b="1" i="0" u="none">
                <a:solidFill>
                  <a:srgbClr val="FFFFFF"/>
                </a:solidFill>
                <a:latin typeface="Urbanist"/>
              </a:rPr>
              <a:t>"Hardware is replaceable; </a:t>
            </a:r>
            <a:r>
              <a:rPr sz="3450" b="1" i="0" u="none">
                <a:solidFill>
                  <a:srgbClr val="76B900"/>
                </a:solidFill>
                <a:latin typeface="Urbanist"/>
              </a:rPr>
              <a:t>ecosystems are sticky.</a:t>
            </a:r>
            <a:r>
              <a:rPr sz="3450" b="1" i="0" u="none">
                <a:solidFill>
                  <a:srgbClr val="FFFFFF"/>
                </a:solidFill>
                <a:latin typeface="Urbanist"/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18680"/>
            <a:ext cx="762000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A3A3A3"/>
                </a:solidFill>
                <a:latin typeface="DM Sans"/>
              </a:rPr>
              <a:t>Hardware is easily copied, but software creates a protective moat. By building essential AI libraries on top of CUDA, NVIDIA deeply integrated itself into every major AI framework. Rivals can't just build a faster chip—they must convince millions of developers to abandon the software ecosystem they already rely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981075"/>
            <a:ext cx="5372100" cy="2828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981075"/>
            <a:ext cx="5372100" cy="2828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95750"/>
            <a:ext cx="5372100" cy="2828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095750"/>
            <a:ext cx="5372100" cy="2828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1990725"/>
            <a:ext cx="502062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AI Accelerators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457450"/>
            <a:ext cx="4781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Specialized GPUs and Tensor Cores provide the massive parallel computing required by modern AI architectures.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1990725"/>
            <a:ext cx="502062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AI Data Centers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457450"/>
            <a:ext cx="4781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Thousands of accelerators + high-speed networking + massive power &amp; cooling make modern infrastructure 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105400"/>
            <a:ext cx="502062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Training →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572125"/>
            <a:ext cx="4781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NVIDIA GPUs train large AI models and then run billions of AI queries efficiently as demand grows for active reasoning.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5105400"/>
            <a:ext cx="502062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Physical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5572125"/>
            <a:ext cx="4781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NVIDIA is extending AI into robotics, autonomous vehicles, and industrial machines to interact with the real world.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1352550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1352550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4467225"/>
            <a:ext cx="47625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4467225"/>
            <a:ext cx="47625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-666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NVIDIA TODAY — THE AI INFRASTRUCTURE GIANT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58102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28775"/>
            <a:ext cx="5324475" cy="3457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28775"/>
            <a:ext cx="5324475" cy="3457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8123" y="2990850"/>
            <a:ext cx="22302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Urbanist"/>
              </a:rPr>
              <a:t>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6385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As the market expands, competitors are racing to break the software moat and develop alternative compute ecosystems.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8572" y="2990850"/>
            <a:ext cx="26403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3B82F6"/>
                </a:solidFill>
                <a:latin typeface="Urbanist"/>
              </a:rPr>
              <a:t>AI Everywhere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6385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A3A3A3"/>
                </a:solidFill>
                <a:latin typeface="DM Sans"/>
              </a:rPr>
              <a:t>The transition from isolated data centers to edge computing, putting intelligent parallel processing in every device globally.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512" y="2124075"/>
            <a:ext cx="571500" cy="571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2987" y="2124075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Urbanist"/>
              </a:rPr>
              <a:t>THE FUTURE — WHAT'S THE NEXT CUDA?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228725"/>
            <a:ext cx="11029950" cy="1905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1010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DM Sans</vt:lpstr>
      <vt:lpstr>DM Sans Medium</vt:lpstr>
      <vt:lpstr>Urbanist</vt:lpstr>
      <vt:lpstr>Urbanist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Jeevan A</dc:creator>
  <cp:keywords/>
  <dc:description>generated using python-pptx</dc:description>
  <cp:lastModifiedBy>Jeevan A</cp:lastModifiedBy>
  <cp:revision>2</cp:revision>
  <dcterms:created xsi:type="dcterms:W3CDTF">2013-01-27T09:14:16Z</dcterms:created>
  <dcterms:modified xsi:type="dcterms:W3CDTF">2026-09-07T20:11:57Z</dcterms:modified>
  <cp:category/>
</cp:coreProperties>
</file>